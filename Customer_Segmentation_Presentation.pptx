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E-Commerce Customer</a:t>
            </a:r>
          </a:p>
          <a:p>
            <a:pPr algn="l">
              <a:spcBef>
                <a:spcPts val="200"/>
              </a:spcBef>
            </a:pPr>
            <a:r>
              <a:rPr sz="4800" b="1" i="0">
                <a:solidFill>
                  <a:srgbClr val="00B4D8"/>
                </a:solidFill>
              </a:rPr>
              <a:t>Segmentation &amp; Prediction</a:t>
            </a:r>
          </a:p>
          <a:p>
            <a:pPr algn="l">
              <a:spcBef>
                <a:spcPts val="1400"/>
              </a:spcBef>
            </a:pPr>
            <a:r>
              <a:rPr sz="2000" b="0" i="0">
                <a:solidFill>
                  <a:srgbClr val="CCD6E0"/>
                </a:solidFill>
              </a:rPr>
              <a:t>Using RFM Analysis &amp;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Algorithms: K-Means  |  Hierarchical  |  DBSCAN  |  GMM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86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ECDC4"/>
                </a:solidFill>
              </a:rPr>
              <a:t>Best Model: K-Means (k=4)   |   4,338 Customers Segmented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120640"/>
            <a:ext cx="2697480" cy="7315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5230368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4 Segments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0712" y="5120640"/>
            <a:ext cx="2697480" cy="7315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0440" y="5230368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4,338 Customers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18504" y="5120640"/>
            <a:ext cx="2697480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5230368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4 Algorithms Compared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26296" y="5120640"/>
            <a:ext cx="2697480" cy="7315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36024" y="5230368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Streamlit App Deployed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6B"/>
                </a:solidFill>
              </a:rPr>
              <a:t>Project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Why does this project matter to the business?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133856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3611880" cy="219456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4904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🎯  Targeted Marketing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1892807"/>
            <a:ext cx="3273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" y="1984248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Identify high-value customers (Champions) and focus ad spend on them, reducing wasted budget on low-engagement segments.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325880"/>
            <a:ext cx="3611880" cy="219456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70831" y="14904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💰  Revenue Optimisation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0831" y="1892807"/>
            <a:ext cx="3273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0831" y="1984248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Champions (16.5% of customers) generate disproportionately high revenue (avg £8,074 spend). Retaining them maximises ROI.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3611880" cy="219456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14904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🔄  Customer Retention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57031" y="1892807"/>
            <a:ext cx="3273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57031" y="1984248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Early detection of At-Risk customers (27%) allows timely win-back campaigns before they churn completely.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749039"/>
            <a:ext cx="3611880" cy="219456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" y="3913631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📦  Inventory Management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" y="4315968"/>
            <a:ext cx="3273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" y="4407407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Purchase frequency and product patterns per segment guide smarter stock planning and demand forecasting.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3749039"/>
            <a:ext cx="3611880" cy="219456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70831" y="3913631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😊  Customer Satisfaction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0831" y="4315968"/>
            <a:ext cx="3273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70831" y="4407407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Personalised offers and communications tailored to each segment improve customer experience and brand loyalty.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3749039"/>
            <a:ext cx="3611880" cy="219456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57031" y="3913631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📊  Data-Driven Decisions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57031" y="4315968"/>
            <a:ext cx="3273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57031" y="4407407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Replaces guesswork with evidence-based segmentation; every marketing decision is backed by purchasing behaviour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ECDC4"/>
                </a:solidFill>
              </a:rPr>
              <a:t>RFM Analysis — 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Converting raw transactions into customer behaviour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133856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3749039" cy="5212080"/>
          </a:xfrm>
          <a:prstGeom prst="rect">
            <a:avLst/>
          </a:prstGeom>
          <a:solidFill>
            <a:srgbClr val="0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41732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6B6B"/>
                </a:solidFill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4813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Recency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19019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Days since last purchase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" y="2331720"/>
            <a:ext cx="3419856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" y="2468880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▸  Lower = More Engaged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944368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▸  Ref. date: 10 Dec 2011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419856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▸  Range: 1 – 374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895344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▸  Avg: 93 days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1325880"/>
            <a:ext cx="3749039" cy="5212080"/>
          </a:xfrm>
          <a:prstGeom prst="rect">
            <a:avLst/>
          </a:prstGeom>
          <a:solidFill>
            <a:srgbClr val="0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4840" y="141732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00B4D8"/>
                </a:solidFill>
              </a:rPr>
              <a:t>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14813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Frequency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19019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Number of unique orders placed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2331720"/>
            <a:ext cx="3419856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▸  Higher = More Loyal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944368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▸  Counted as unique InvoiceNo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419856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▸  Range: 1 – 209 orders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895344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▸  Avg: 4.3 orders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0456" y="1325880"/>
            <a:ext cx="3749039" cy="5212080"/>
          </a:xfrm>
          <a:prstGeom prst="rect">
            <a:avLst/>
          </a:prstGeom>
          <a:solidFill>
            <a:srgbClr val="0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85048" y="141732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4ECDC4"/>
                </a:solidFill>
              </a:rPr>
              <a:t>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7736" y="14813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Monetary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6" y="19019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Total spend across all orders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85048" y="2331720"/>
            <a:ext cx="3419856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76488" y="2468880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▸  Higher = More Valuable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6488" y="2944368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▸  Sum of Qty × UnitPrice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6488" y="3419856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▸  Range: £3 – £280k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6488" y="3895344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▸  Avg: £2,061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6400800"/>
            <a:ext cx="10332720" cy="347472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" y="6419088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D166"/>
                </a:solidFill>
              </a:rPr>
              <a:t>Preprocessing:  log1p( R, F, M )  →  StandardScaler( mean=0, std=1 )  →  Clustering Input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Data Preprocessing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From raw transactions to model-ready RFM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13385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56032" y="1371600"/>
            <a:ext cx="1298448" cy="237744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6032" y="1371600"/>
            <a:ext cx="1298448" cy="34747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1752" y="1389888"/>
            <a:ext cx="1207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</a:rPr>
              <a:t>RAW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1792224"/>
            <a:ext cx="1152144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0"/>
                </a:solidFill>
              </a:rPr>
              <a:t>Online Retail Dataset
8 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3624" y="2286000"/>
            <a:ext cx="82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5570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9344" y="1371600"/>
            <a:ext cx="1298448" cy="237744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09344" y="1371600"/>
            <a:ext cx="1298448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55064" y="1389888"/>
            <a:ext cx="1207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2496" y="1792224"/>
            <a:ext cx="1152144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0"/>
                </a:solidFill>
              </a:rPr>
              <a:t>Remove cancelled orders
(InvoiceNo with 'C')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6935" y="2286000"/>
            <a:ext cx="82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5570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62656" y="1371600"/>
            <a:ext cx="1298448" cy="237744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962656" y="1371600"/>
            <a:ext cx="1298448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08376" y="1389888"/>
            <a:ext cx="1207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</a:rPr>
              <a:t>STEP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1792224"/>
            <a:ext cx="1152144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0"/>
                </a:solidFill>
              </a:rPr>
              <a:t>Drop rows with
missing CustomerID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2286000"/>
            <a:ext cx="82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5570"/>
                </a:solidFill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5968" y="1371600"/>
            <a:ext cx="1298448" cy="237744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15968" y="1371600"/>
            <a:ext cx="1298448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61688" y="1389888"/>
            <a:ext cx="1207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</a:rP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1792224"/>
            <a:ext cx="1152144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0"/>
                </a:solidFill>
              </a:rPr>
              <a:t>Remove invalid
Qty or UnitPrice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59" y="2286000"/>
            <a:ext cx="82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5570"/>
                </a:solidFill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1371600"/>
            <a:ext cx="1298448" cy="237744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669280" y="1371600"/>
            <a:ext cx="1298448" cy="34747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15000" y="1389888"/>
            <a:ext cx="1207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</a:rPr>
              <a:t>STEP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2432" y="1792224"/>
            <a:ext cx="1152144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0"/>
                </a:solidFill>
              </a:rPr>
              <a:t>Add TotalAmount
= Qty × UnitPrice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872" y="2286000"/>
            <a:ext cx="82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5570"/>
                </a:solidFill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22592" y="1371600"/>
            <a:ext cx="1298448" cy="237744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022592" y="1371600"/>
            <a:ext cx="1298448" cy="34747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68312" y="1389888"/>
            <a:ext cx="1207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</a:rPr>
              <a:t>STEP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4" y="1792224"/>
            <a:ext cx="1152144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0"/>
                </a:solidFill>
              </a:rPr>
              <a:t>Compute RFM
per customer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0184" y="2286000"/>
            <a:ext cx="82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5570"/>
                </a:solidFill>
              </a:rPr>
              <a:t>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75903" y="1371600"/>
            <a:ext cx="1298448" cy="237744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375903" y="1371600"/>
            <a:ext cx="1298448" cy="34747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21624" y="1389888"/>
            <a:ext cx="1207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</a:rPr>
              <a:t>STEP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49055" y="1792224"/>
            <a:ext cx="1152144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0"/>
                </a:solidFill>
              </a:rPr>
              <a:t>log1p transform
+ StandardScaler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5" y="2286000"/>
            <a:ext cx="82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5570"/>
                </a:solidFill>
              </a:rPr>
              <a:t>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29215" y="1371600"/>
            <a:ext cx="1298448" cy="237744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729215" y="1371600"/>
            <a:ext cx="1298448" cy="34747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74936" y="1389888"/>
            <a:ext cx="1207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</a:rPr>
              <a:t>READY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02367" y="1792224"/>
            <a:ext cx="1152144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0"/>
                </a:solidFill>
              </a:rPr>
              <a:t>Customers segmented
3 scaled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6B"/>
                </a:solidFill>
              </a:rPr>
              <a:t>Clustering Algorithms Compared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Four algorithms evaluated on the same RFM feature 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133856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788920" cy="5212080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27889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441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K-Means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190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4D8"/>
                </a:solidFill>
              </a:rPr>
              <a:t>Partition-based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084831"/>
            <a:ext cx="25786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• Assigns each point to nearest centroid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560320"/>
            <a:ext cx="25786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• k-means++ smart initialisation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035808"/>
            <a:ext cx="25786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• Fast: O(nkI) complexity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511296"/>
            <a:ext cx="25786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• Best for spherical, similar-sized clusters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4041648"/>
            <a:ext cx="2578608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4133087"/>
            <a:ext cx="2578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B4D8"/>
                </a:solidFill>
              </a:rPr>
              <a:t>k = 4  |  n_init = 10  |  random_state = 42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27832" y="1325880"/>
            <a:ext cx="2788920" cy="5212080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27832" y="1325880"/>
            <a:ext cx="2788920" cy="38404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19272" y="13441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Hierarchical
(Agglomerative)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7190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ECDC4"/>
                </a:solidFill>
              </a:rPr>
              <a:t>Linkage-based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2084831"/>
            <a:ext cx="25786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• Merges closest clusters bottom-up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560320"/>
            <a:ext cx="25786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• Ward linkage minimises variance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035808"/>
            <a:ext cx="25786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• Dendrogram visualises merges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3511296"/>
            <a:ext cx="25786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• Slow: O(n³) — not scalable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4041648"/>
            <a:ext cx="2578608" cy="2743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37560" y="4133087"/>
            <a:ext cx="2578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ECDC4"/>
                </a:solidFill>
              </a:rPr>
              <a:t>linkage = Ward  |  k =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1325880"/>
            <a:ext cx="2788920" cy="5212080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81344" y="1325880"/>
            <a:ext cx="2788920" cy="3840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72783" y="13441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DBSCAN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3" y="17190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6B6B"/>
                </a:solidFill>
              </a:rPr>
              <a:t>Density-based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2084831"/>
            <a:ext cx="25786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• Groups dense regions; labels sparse as noise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2560320"/>
            <a:ext cx="25786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• No k required — discovers automatically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1072" y="3035808"/>
            <a:ext cx="25786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• Found only 2 clusters + 62 noise 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1072" y="3511296"/>
            <a:ext cx="25786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• Poor fit for RFM spherical structure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91072" y="4041648"/>
            <a:ext cx="2578608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91072" y="4133087"/>
            <a:ext cx="2578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6B6B"/>
                </a:solidFill>
              </a:rPr>
              <a:t>eps = 0.5  |  min_samples = 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34856" y="1325880"/>
            <a:ext cx="2788920" cy="5212080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34856" y="1325880"/>
            <a:ext cx="2788920" cy="38404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26296" y="13441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GMM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7190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D166"/>
                </a:solidFill>
              </a:rPr>
              <a:t>Probabilistic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44584" y="2084831"/>
            <a:ext cx="25786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• Soft assignment — probability per cluster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4584" y="2560320"/>
            <a:ext cx="25786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• Assumes Gaussian-shaped clusters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44584" y="3035808"/>
            <a:ext cx="25786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• BIC/AIC for component selection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44584" y="3511296"/>
            <a:ext cx="25786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• Lowest Silhouette (0.173) here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44584" y="4041648"/>
            <a:ext cx="2578608" cy="2743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44584" y="4133087"/>
            <a:ext cx="2578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D166"/>
                </a:solidFill>
              </a:rPr>
              <a:t>n_components = 4  |  full covariance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Best Algorithm: K-Means (k=4)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Quantitative metrics + qualitative reasoning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13385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10725912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1371600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1371600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Silhouette 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13632" y="1371600"/>
            <a:ext cx="1728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Davies-Bouldin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8152" y="1371600"/>
            <a:ext cx="2002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Calinski-Harabasz 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6992" y="1371600"/>
            <a:ext cx="1088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Scalable?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1432" y="1371600"/>
            <a:ext cx="1362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Interpretable?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37360"/>
            <a:ext cx="10725912" cy="438912"/>
          </a:xfrm>
          <a:prstGeom prst="rect">
            <a:avLst/>
          </a:prstGeom>
          <a:solidFill>
            <a:srgbClr val="00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1810512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ECDC4"/>
                </a:solidFill>
              </a:rPr>
              <a:t>K-Means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9152" y="1810512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</a:rPr>
              <a:t>0.337 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3632" y="1810512"/>
            <a:ext cx="1728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</a:rPr>
              <a:t>1.010 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8152" y="1810512"/>
            <a:ext cx="2002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</a:rPr>
              <a:t>3,329 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1810512"/>
            <a:ext cx="1088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ECDC4"/>
                </a:solidFill>
              </a:rPr>
              <a:t>Yes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1810512"/>
            <a:ext cx="1362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ECDC4"/>
                </a:solidFill>
              </a:rPr>
              <a:t>High 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176272"/>
            <a:ext cx="10725912" cy="438912"/>
          </a:xfrm>
          <a:prstGeom prst="rect">
            <a:avLst/>
          </a:prstGeom>
          <a:solidFill>
            <a:srgbClr val="10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249424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Hierarchical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59152" y="2249424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0.330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2" y="2249424"/>
            <a:ext cx="1728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1.045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88152" y="2249424"/>
            <a:ext cx="2002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3,186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2249424"/>
            <a:ext cx="1088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No 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2249424"/>
            <a:ext cx="1362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High 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615184"/>
            <a:ext cx="10725912" cy="438912"/>
          </a:xfrm>
          <a:prstGeom prst="rect">
            <a:avLst/>
          </a:prstGeom>
          <a:solidFill>
            <a:srgbClr val="08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" y="2688336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DBSCAN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59152" y="2688336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0.089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13632" y="2688336"/>
            <a:ext cx="1728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88152" y="2688336"/>
            <a:ext cx="2002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2688336"/>
            <a:ext cx="1088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1432" y="2688336"/>
            <a:ext cx="1362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054096"/>
            <a:ext cx="10725912" cy="438912"/>
          </a:xfrm>
          <a:prstGeom prst="rect">
            <a:avLst/>
          </a:prstGeom>
          <a:solidFill>
            <a:srgbClr val="10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7472" y="3127248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GMM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59152" y="3127248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0.173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13632" y="3127248"/>
            <a:ext cx="1728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1.241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88152" y="3127248"/>
            <a:ext cx="2002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2,814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36992" y="3127248"/>
            <a:ext cx="1088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71432" y="3127248"/>
            <a:ext cx="1362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950208"/>
            <a:ext cx="3429000" cy="713232"/>
          </a:xfrm>
          <a:prstGeom prst="rect">
            <a:avLst/>
          </a:prstGeom>
          <a:solidFill>
            <a:srgbClr val="10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74320" y="3950208"/>
            <a:ext cx="54864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400507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Highest Silhouette Score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2976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0.337 — compact, well-separated clusters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31920" y="3950208"/>
            <a:ext cx="3429000" cy="713232"/>
          </a:xfrm>
          <a:prstGeom prst="rect">
            <a:avLst/>
          </a:prstGeom>
          <a:solidFill>
            <a:srgbClr val="10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931920" y="3950208"/>
            <a:ext cx="54864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114800" y="400507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Lowest Davies-Bouldin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42976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1.010 — most distinct cluster boundaries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89520" y="3950208"/>
            <a:ext cx="3429000" cy="713232"/>
          </a:xfrm>
          <a:prstGeom prst="rect">
            <a:avLst/>
          </a:prstGeom>
          <a:solidFill>
            <a:srgbClr val="10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589520" y="3950208"/>
            <a:ext cx="54864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772400" y="400507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Highest Calinski-Harabasz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42976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3,329 — best between/within variance ratio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773168"/>
            <a:ext cx="3429000" cy="713232"/>
          </a:xfrm>
          <a:prstGeom prst="rect">
            <a:avLst/>
          </a:prstGeom>
          <a:solidFill>
            <a:srgbClr val="10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74320" y="4773168"/>
            <a:ext cx="54864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7200" y="482803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O(nkI) Scalability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1206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Handles thousands of customers efficiently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31920" y="4773168"/>
            <a:ext cx="3429000" cy="713232"/>
          </a:xfrm>
          <a:prstGeom prst="rect">
            <a:avLst/>
          </a:prstGeom>
          <a:solidFill>
            <a:srgbClr val="10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931920" y="4773168"/>
            <a:ext cx="54864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114800" y="482803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Business Interpretability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0" y="51206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Clear centroid profiles map to marketing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ECDC4"/>
                </a:solidFill>
              </a:rPr>
              <a:t>Customer Segments Discovered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K-Means (k=4) identified four actionable groups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133856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56032" y="1325880"/>
            <a:ext cx="2788920" cy="5230368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6032" y="1325880"/>
            <a:ext cx="2788920" cy="3840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441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Champions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75564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6B6B"/>
                </a:solidFill>
              </a:rPr>
              <a:t>716 customers (16.5%)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217627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Recency: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21762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12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263347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Frequency: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26334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13.7 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309067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Monetary: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30906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£8,074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" y="3584448"/>
            <a:ext cx="251460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3192" y="365760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Strategy: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" y="3968496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▸ Reward with VIP loyalty benefits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" y="435254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▸ Early access to new products &amp; sales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" y="473659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▸ Request reviews &amp; referrals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9544" y="1325880"/>
            <a:ext cx="2788920" cy="5230368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9544" y="1325880"/>
            <a:ext cx="27889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00984" y="13441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Potential Loyalists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00984" y="175564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837 customers (19.3%)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46703" y="217627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Recency: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98264" y="21762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18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46703" y="263347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Frequency: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8264" y="26334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2.2 orders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46703" y="309067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Monetary: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98264" y="30906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£552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46703" y="3584448"/>
            <a:ext cx="25146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46703" y="365760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Strategy: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6703" y="3968496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▸ Send welcome email series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46703" y="435254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▸ Offer first repeat-purchase discount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46703" y="473659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▸ Enroll in loyalty programme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63056" y="1325880"/>
            <a:ext cx="2788920" cy="5230368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63056" y="1325880"/>
            <a:ext cx="2788920" cy="38404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54496" y="13441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At Risk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54496" y="175564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166"/>
                </a:solidFill>
              </a:rPr>
              <a:t>1,173 customers (27.0%)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0216" y="217627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Recency: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51776" y="21762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71 days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216" y="263347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Frequency: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51776" y="26334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4.1 orders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0216" y="309067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Monetary: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51776" y="30906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£1,803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0216" y="3584448"/>
            <a:ext cx="2514600" cy="2743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00216" y="365760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Strategy: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216" y="3968496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▸ Win-back campaigns with discounts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0216" y="435254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▸ Remind of past purchase history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0216" y="473659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▸ Survey to find disengagement reason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16567" y="1325880"/>
            <a:ext cx="2788920" cy="5230368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116567" y="1325880"/>
            <a:ext cx="2788920" cy="38404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208007" y="13441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Lapsed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08007" y="175564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ECDC4"/>
                </a:solidFill>
              </a:rPr>
              <a:t>1,612 customers (37.2%)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53728" y="217627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Recency: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05288" y="21762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182 days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53728" y="263347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Frequency: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05288" y="26334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1.3 orders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53728" y="309067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Monetary: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05288" y="30906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£343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53728" y="3584448"/>
            <a:ext cx="2514600" cy="2743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253728" y="365760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CDC4"/>
                </a:solidFill>
              </a:rPr>
              <a:t>Strategy: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53728" y="3968496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▸ Strong re-engagement incentives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53728" y="435254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▸ Show new products matching history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53728" y="473659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▸ Accept churn if cost too high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6B"/>
                </a:solidFill>
              </a:rPr>
              <a:t>How This Model Meets Business Expectations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Translating data science output into measurable business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133856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486400" cy="5230368"/>
          </a:xfrm>
          <a:prstGeom prst="rect">
            <a:avLst/>
          </a:prstGeom>
          <a:solidFill>
            <a:srgbClr val="0A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3898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</a:rPr>
              <a:t>Business Goals Achieved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64792"/>
            <a:ext cx="521208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901952"/>
            <a:ext cx="54864" cy="5669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90195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Know Your Customer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176272"/>
            <a:ext cx="4983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4 distinct customer groups uncovered from real purchasing data — no guesswork, every decision backed by behaviour.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33472"/>
            <a:ext cx="54864" cy="5669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263347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Targeted Marketing Campaigns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907791"/>
            <a:ext cx="4983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Each segment receives a tailored strategy: VIP rewards for Champions, win-back offers for At Risk, onboarding nudges for Potential Loyalists.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364992"/>
            <a:ext cx="54864" cy="5669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336499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Protect Revenue — Retain Champions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639312"/>
            <a:ext cx="4983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Top 16.5% of customers (Champions) average £8,074 spend. Identifying them enables proactive retention before they disengage.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096512"/>
            <a:ext cx="54864" cy="5669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09651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Reduce Churn — Act on At Risk Early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370832"/>
            <a:ext cx="4983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27% of customers show declining engagement. Early detection allows timely intervention before they become fully Lapsed.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828032"/>
            <a:ext cx="54864" cy="5669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482803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Optimise Marketing Budget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102352"/>
            <a:ext cx="4983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Focus ad spend on high-value segments; reduce wastage on Lapsed customers with low return probability.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559552"/>
            <a:ext cx="54864" cy="5669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555955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Scalable Self-Service Tool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833872"/>
            <a:ext cx="4983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Marketing team can predict any new customer's segment instantly via the Streamlit app — no data science expertise required.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1325880"/>
            <a:ext cx="5806440" cy="5230368"/>
          </a:xfrm>
          <a:prstGeom prst="rect">
            <a:avLst/>
          </a:prstGeom>
          <a:solidFill>
            <a:srgbClr val="0A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36208" y="138988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Prediction Pipeline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1764792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36208" y="1920240"/>
            <a:ext cx="914400" cy="3840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36208" y="19751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</a:rPr>
              <a:t>INPUT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1975104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Customer: Recency, Frequency, Monetary values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32257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B6B"/>
                </a:solidFill>
              </a:rP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6208" y="2688336"/>
            <a:ext cx="91440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36208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</a:rPr>
              <a:t>STEP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27432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Apply log1p( ) transformation to reduce skewness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09067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B4D8"/>
                </a:solidFill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6208" y="3456432"/>
            <a:ext cx="914400" cy="38404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36208" y="35112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</a:rPr>
              <a:t>STEP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3511296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StandardScaler.transform( ) — loaded from scaler.pkl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385876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ECDC4"/>
                </a:solidFill>
              </a:rPr>
              <a:t>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36208" y="4224528"/>
            <a:ext cx="914400" cy="38404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36208" y="42793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</a:rPr>
              <a:t>STEP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4279392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KMeans.predict( ) — loaded from kmeans_model.pkl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462686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D166"/>
                </a:solidFill>
              </a:rPr>
              <a:t>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36208" y="4992624"/>
            <a:ext cx="914400" cy="3840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36208" y="50474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</a:rPr>
              <a:t>OUTPUT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5047488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Segment label: Champions / Potential Loyalists / At Risk / Lapsed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53949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B6B"/>
                </a:solidFill>
              </a:rPr>
              <a:t>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6208" y="5760720"/>
            <a:ext cx="914400" cy="38404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36208" y="58155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</a:rPr>
              <a:t>ACTION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5815584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Display marketing strategy tailored to that segment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166"/>
                </a:solidFill>
              </a:rPr>
              <a:t>Streamlit App — Built with Vibe 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AI-assisted development: describing intent, not writing every 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1338560" cy="36576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394960" cy="5230368"/>
          </a:xfrm>
          <a:prstGeom prst="rect">
            <a:avLst/>
          </a:prstGeom>
          <a:solidFill>
            <a:srgbClr val="0A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What is Vibe Coding?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64792"/>
            <a:ext cx="5120640" cy="36576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883664"/>
            <a:ext cx="54864" cy="8229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883664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D166"/>
                </a:solidFill>
              </a:rPr>
              <a:t>Natural Language Driven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203704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The app was described in plain English: 'show a pie chart of segment distribution', 'add sliders for R, F, M inputs, predict the segment on button click'.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962656"/>
            <a:ext cx="54864" cy="8229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2962656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D166"/>
                </a:solidFill>
              </a:rPr>
              <a:t>AI Writes the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282696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Claude (the AI) translated each description into working Python + Streamlit code — no manual syntax lookup or boilerplate needed.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54864" cy="8229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404164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D166"/>
                </a:solidFill>
              </a:rPr>
              <a:t>Iterative Refinement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361688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Output was reviewed, feedback given ('add batch prediction upload', 'make segment names dynamic from CSV'), and AI revised instantly.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120640"/>
            <a:ext cx="54864" cy="8229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5120640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D166"/>
                </a:solidFill>
              </a:rPr>
              <a:t>Speed Advantage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440679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 full 3-page Streamlit app with Plotly charts, model loading, and batch CSV prediction was produced in minutes, not hours.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1325880"/>
            <a:ext cx="5897880" cy="5230368"/>
          </a:xfrm>
          <a:prstGeom prst="rect">
            <a:avLst/>
          </a:prstGeom>
          <a:solidFill>
            <a:srgbClr val="0A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44768" y="141732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Streamlit App Features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64792"/>
            <a:ext cx="55778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44768" y="1883664"/>
            <a:ext cx="1371600" cy="32918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44768" y="19202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Page 1: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8" y="1883664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▸  KPI metrics: total customers, avg R/F/M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8" y="2212848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▸  Plotly pie chart — segment distribution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2542032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▸  Bar charts — avg Monetary &amp; Frequency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8" y="2871216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▸  Full customer table with search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44768" y="3456432"/>
            <a:ext cx="1371600" cy="32918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44768" y="34930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Page 2: Predict Segment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8" y="3456432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▸  Sliders: Recency (1-400), Frequency (1-100)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3785616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▸  Monetary slider (£1 – £50,000)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7808" y="4114800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▸  Predict button → segment + recommendation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7808" y="4443984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▸  Batch upload: predict CSV of customers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44768" y="5029200"/>
            <a:ext cx="1371600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44768" y="50657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Page 3: About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029200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▸  Project overview and methodology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07808" y="5358384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▸  Algorithm comparison table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07808" y="5687568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▸  RFM explanation and segment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44768" y="6236208"/>
            <a:ext cx="5577840" cy="256032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36208" y="6254496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D166"/>
                </a:solidFill>
              </a:rPr>
              <a:t>Run:  python -m streamlit run app.py  →  http://localhost:8501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ECDC4"/>
                </a:solidFill>
              </a:rPr>
              <a:t>Future Improvements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Extending the project from segmentation to a full customer intelligence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133856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3794760" cy="2304288"/>
          </a:xfrm>
          <a:prstGeom prst="rect">
            <a:avLst/>
          </a:prstGeom>
          <a:solidFill>
            <a:srgbClr val="0A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3794760" cy="3840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2336" y="1389888"/>
            <a:ext cx="3538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1.  Supervised Classifier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1801368"/>
            <a:ext cx="3538728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Train a Random Forest or XGBoost on the cluster labels so new customers with limited history can be classified instantly without re-running clustering.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325880"/>
            <a:ext cx="3794760" cy="2304288"/>
          </a:xfrm>
          <a:prstGeom prst="rect">
            <a:avLst/>
          </a:prstGeom>
          <a:solidFill>
            <a:srgbClr val="0A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59" y="1325880"/>
            <a:ext cx="379476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79975" y="1389888"/>
            <a:ext cx="3538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2.  Dynamic Re-Training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5" y="1801368"/>
            <a:ext cx="3538728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Schedule monthly re-training pipeline (Airflow / cron) to update segments as customer behaviour evolves — prevents segment drift over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25880"/>
            <a:ext cx="3794760" cy="2304288"/>
          </a:xfrm>
          <a:prstGeom prst="rect">
            <a:avLst/>
          </a:prstGeom>
          <a:solidFill>
            <a:srgbClr val="0A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325880"/>
            <a:ext cx="3794760" cy="38404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57616" y="1389888"/>
            <a:ext cx="3538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3.  Richer Feature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801368"/>
            <a:ext cx="3538728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Add product categories, time-of-day, day-of-week, device type, geographic region, and customer lifetime value (CLV) to improve cluster precision.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94760"/>
            <a:ext cx="3794760" cy="2304288"/>
          </a:xfrm>
          <a:prstGeom prst="rect">
            <a:avLst/>
          </a:prstGeom>
          <a:solidFill>
            <a:srgbClr val="0A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3794760"/>
            <a:ext cx="3794760" cy="38404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2336" y="3858768"/>
            <a:ext cx="3538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4.  Recommendation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" y="4270248"/>
            <a:ext cx="3538728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Layer a collaborative-filtering recommender on top of segments to suggest personalised products based on what Champions and Loyalists buy together.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3794760"/>
            <a:ext cx="3794760" cy="2304288"/>
          </a:xfrm>
          <a:prstGeom prst="rect">
            <a:avLst/>
          </a:prstGeom>
          <a:solidFill>
            <a:srgbClr val="0A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51959" y="3794760"/>
            <a:ext cx="3794760" cy="3840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79975" y="3858768"/>
            <a:ext cx="3538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5.  Time-Series Segmentation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9975" y="4270248"/>
            <a:ext cx="3538728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Track how customers move between segments month-over-month using transition matrices — identify early warning signals before customers become Lapsed.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794760"/>
            <a:ext cx="3794760" cy="2304288"/>
          </a:xfrm>
          <a:prstGeom prst="rect">
            <a:avLst/>
          </a:prstGeom>
          <a:solidFill>
            <a:srgbClr val="0A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29600" y="3794760"/>
            <a:ext cx="3794760" cy="38404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57616" y="3858768"/>
            <a:ext cx="3538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6.  Real-Time Prediction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4270248"/>
            <a:ext cx="3538728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Wrap the model in a FastAPI REST endpoint so the e-commerce platform can classify a customer's segment on every login and personalise in real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6327648"/>
            <a:ext cx="11640312" cy="347472"/>
          </a:xfrm>
          <a:prstGeom prst="rect">
            <a:avLst/>
          </a:prstGeom>
          <a:solidFill>
            <a:srgbClr val="0A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" y="6345936"/>
            <a:ext cx="11365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00B4D8"/>
                </a:solidFill>
              </a:rPr>
              <a:t>Vision:  Move from batch segmentation  →  Real-time personalisation engine  →  Fully automated customer intelligence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1521</Words>
  <Application>Microsoft Office PowerPoint</Application>
  <PresentationFormat>Custom</PresentationFormat>
  <Paragraphs>269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Mohamad Aliyul Rahman Mohamad Yusuf</cp:lastModifiedBy>
  <cp:revision>2</cp:revision>
  <dcterms:created xsi:type="dcterms:W3CDTF">2013-01-27T09:14:16Z</dcterms:created>
  <dcterms:modified xsi:type="dcterms:W3CDTF">2026-05-23T13:29:35Z</dcterms:modified>
  <cp:category/>
</cp:coreProperties>
</file>